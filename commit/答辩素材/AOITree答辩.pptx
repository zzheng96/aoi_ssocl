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开场：各位评委好，我们的作品是 AOITree，一套工业外观 AI 质检系统。一句话概括：少样本即可上线、错了能教、教坏能退。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三个关键词对应三个能力。上线：100 正常 + 30 缺陷，十几秒准备；能教：操作员点一下误检/漏检，系统当场吸收；能退：每次更新先过锚定集考试，不及格自动回滚。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这五个痛点来自产线实际：换型频繁、缺陷杂、上线后只能等工程师调参、在线学习怕学坏、算法和软件两张皮。右列是我们对应的设计。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 PySide6 桌面端，后端 FastAPI + SQLite，引擎是 DINOv2 冻结特征 + 多专家槽位 + SSOCL 受控持续学习。下面是一个工单的完整旅程。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按顺序讲：隔离检查保证测试图不进训练；DINOv2 冻结提特征；各专家打分出热力图；CDF 校准统一尺子；共识融合；双阈值三档判定；输出可追溯。下方是闭环：反馈 → 候选版本 → 考试 → 上线或回滚。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比喻：DINOv2 像看过上亿张图的老师傅，我们不重新培训他，只让他看 100 张正常图，记住这条线的正常样子。检测时每一块去记忆库找最近邻，离得越远越可疑。U11 实验：冻结 0.6032，微调掉到 0.4914，从零训练 0.4235。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为什么不用一个大模型包打天下：色偏对语义特征不敏感，错序对纹理特征不敏感。所以按缺陷机理分工，sem/disc 管一般外观，blob 管微小斑点，trad 管色偏纹理，layout 管缺件尺寸错序，inp 管局部结构，tpl 在有金样板时启用，E_open 兜底没见过的缺陷。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 CDF 校准：用正常样本分布把每个专家分数换成“比多少比例的正常样本更异常”，截断到 [-1,2]。注意这是相对排名尺子，不能当缺陷概率。第二步融合：一半权重平均分保底，一半按一致度分配，β=0.5。第三步双阈值：Q0.95 以下正常，Q0.99 以上异常，中间灰区交给人。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SSOCL 三件事：错题本收反馈，月考是锚定集回归，退学机制是快照回滚。机器复判让产线已有的老 AOI 也能当老师。数据隔离：V4 曾出现 0.9983 的虚高，排查发现评估数据混进了拟合，我们主动废掉并建立代码级断言。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先说清楚：单个零件大多有出处（PatchCore、RealNet、AHL、DINOv2），我们不宣称发明了新网络。创新在组合方式和工程闭环，六项各有证据。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左边：赛题默认 100 正常 + 30 缺陷，五个品类平均，我们 0.9441，PatchCore 0.9514，差 0.007，同一水平；但我们多了反馈学习、类型归因、灰区和回滚。右边：标准集都在 0.96 以上；data_local 和 GYU 是真实工业 / 跨域，静态分很低，我们不藏，用它说明为什么必须有在线学习。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主报 GYU-DET 10 轮 300 条反馈：0.545 到 0.710，过程不是单调的，有波动，disc_ft 应用 18 次、拒绝 4 次，说明门控在工作。U62 单轮调优到 0.818 作为补充。data_local 的 gold_finger 从 0.122 到约 0.72；早期小锚定下 0.91 的数字我们主动废弃了。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这是专门设计的压力测试：同一品类分两臂，一臂给正确反馈，一臂故意给错误标注。正确臂流内错误从 1 降到 0，锚定 AUROC 保持 1.0；错标臂门控触发 2 次回滚。边界要主动说：单品类、单种子、锚定集只有 4 张，证明机制有效，不证明统计普遍性。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赛题口径是模型运行时间小于 200ms、单图小于 1s。速度模式均值 101.6、p95 183.2 达标；max 263 出现在少量大图上，我们如实标出。端到端均值 162.5。无 GPU 时 CPU 降配 e2e 351ms 也在 1s 内。长稳 10 分钟 4 并发 4539 次 0 错误。突发并发 max 1740ms，所以产线建议串行或限流。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检出率五类都在 0.938 以上，尺寸、缺件、色彩是 1.0。类型归因 top-1 在 0.56 到 0.86 之间，逻辑错误最弱 0.562，但样本只有 16 张，统计上不稳，我们列为局限、持续积累。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按产线一天的顺序演示。工作台是开机首屏，有工单和品类状态机；数据管理能自动识别 MVTec、YOLO 和命名规则；模型管理里 100+30 一键准备，约 14 秒完成并给出体检结论；评估看板看上线前指标与阈值。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实时监控逐图给出判定、热力图、缺陷框、延迟和主导专家；操作员在标注反馈里点误检或漏检；学习提升生成新版本，先过锚定集考试，可回滚；统计报表提供日报、审计和 CSV 导出。演示前先跑一张图预热。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局限主动讲，比被评委问出来好。最大的是真实工业强域差，静态只有 0.40，靠在线学习拉到 0.53~0.72；光照位移扰动敏感，需要产线约束；在线学习非单调，门控降风险但不是硬保证；24 小时稳定性、RTSP、MES 真实协议还没实测。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这一页备查，按评委提问跳转作答。详细答案见答辩文档第 8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总结三句话：少样本即可上线、错了能教、教坏能退。谢谢各位评委，欢迎提问。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pn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工业外观 AI 质检系统 · 答辩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1F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少样本即可上线 · 错了能教 · 教坏能退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5029200" cy="0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931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队伍：【待补：队名】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成员：【待补：成员与分工】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赛道：【待补：企业赛题“火眼工坊” / 开放赛题】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6035040"/>
            <a:ext cx="1828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 定位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AOITree：少样本即可上线、错了能教、教坏能退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§0；项目文档 3.2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82880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345429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少样本即可上线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3454298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+ 30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48640" y="374904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张正常图 + 30 张缺陷图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冻结大模型只做统计拟合，约 14s 准备完成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68698" y="16916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8698" y="182880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368698" y="2148840"/>
            <a:ext cx="345429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错了能教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368698" y="2743200"/>
            <a:ext cx="3454298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次点击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4368698" y="374904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操作员标记“误检 / 漏检 / 确认正确”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 AOI 的机器复判也能自动生成反馈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88757" y="16916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8757" y="1828800"/>
            <a:ext cx="914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88757" y="2148840"/>
            <a:ext cx="345429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教坏能退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188757" y="2743200"/>
            <a:ext cx="3454298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次回滚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8188757" y="374904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每次更新先过锚定集“考试”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错标压力测试中门控自动回滚 2 次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539496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539496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评委关心的不是“又一个高分模型”，而是“新产线拿来能不能用、用错了怎么办”。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问题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产线要的不是更高的静态分数，而是能上线、能纠错、能追溯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873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产线现状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带来的问题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AOITree 的回应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换型频繁，新品类缺陷样本少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传统深度模型要大量标注、训练数小时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冻结通用视觉大模型，只做统计拟合；100+30 张、约 14s 准备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缺陷种类杂：划痕、色偏、缺件、错序、尺寸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单一算法总有盲区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多位“专家”各管一类，分数统一后融合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上线后误检/漏检，只能等工程师调参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现场问题无法快速闭环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操作员反馈即学（SSOCL），机器复判也能当反馈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模型自我更新怕“越学越差”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不敢在产线开启在线学习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锚定集门控 + 版本快照 + 自动回滚，全程留痕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算法和软件两张皮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演示能跑，产线难用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桌面端 + 后端服务 + 数据库一体，覆盖建单到追溯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71500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571500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我们的每一处设计，都围绕“能不能用”和“用错了怎么办”这两件事。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一套系统覆盖“准备 → 投产 → 复盘”，算法与软件一体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§2；项目文档 图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900" dirty="0"/>
          </a:p>
        </p:txBody>
      </p:sp>
      <p:pic>
        <p:nvPicPr>
          <p:cNvPr id="9" name="Image 0" descr="E:\CPIPC\CGAIC\commit\答辩素材\截图\fig1_总体架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28"/>
            <a:ext cx="6766560" cy="4169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371628"/>
            <a:ext cx="6766560" cy="416960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35240" y="1417320"/>
            <a:ext cx="400781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35240" y="1719072"/>
            <a:ext cx="4007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桌面端，按准备期 / 投产期 / 复盘期组织页面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635240" y="2286000"/>
            <a:ext cx="400781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635240" y="2587752"/>
            <a:ext cx="4007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服务（8017）+ SQLite：检测、反馈、版本、审计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635240" y="3154680"/>
            <a:ext cx="400781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635240" y="3456432"/>
            <a:ext cx="4007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DINOv2 冻结特征 + 多专家槽位 + SSOCL 受控持续学习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635240" y="4023360"/>
            <a:ext cx="40078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35240" y="4114800"/>
            <a:ext cx="400781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一个工单的旅程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35240" y="4434840"/>
            <a:ext cx="40078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建数据源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建工单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准备模型 100+30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实时检测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标注反馈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 学习提升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 回队复检</a:t>
            </a:r>
            <a:endParaRPr lang="en-US" sz="1150" dirty="0"/>
          </a:p>
          <a:p>
            <a:pPr indent="0" marL="0">
              <a:lnSpc>
                <a:spcPct val="100000"/>
              </a:lnSpc>
              <a:spcAft>
                <a:spcPts val="1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 报表与追溯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一张图片的旅程：先统一尺子，再投票，拿不准就交给人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§2；isolation.py / 融合与判定模块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459513" cy="6400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隔离检查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测试图不许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进入训练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154457" y="1600200"/>
            <a:ext cx="1459513" cy="6400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54457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54457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切块提特征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154457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DINOv2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主干冻结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60274" y="1600200"/>
            <a:ext cx="1459513" cy="6400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0274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60274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专家打分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760274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7+1 个槽位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各出热力图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366091" y="1600200"/>
            <a:ext cx="1459513" cy="6400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66091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66091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CDF 校准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66091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不同量纲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换成同一把尺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971908" y="1600200"/>
            <a:ext cx="1459513" cy="6400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71908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71908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共识融合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71908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等权保底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一致度加权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577725" y="1600200"/>
            <a:ext cx="1459513" cy="6400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77725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577725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双阈值判定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577725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 / 灰区 / 异常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183542" y="1600200"/>
            <a:ext cx="1459513" cy="6400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83542" y="1783080"/>
            <a:ext cx="1459513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183542" y="2103120"/>
            <a:ext cx="145951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183542" y="2514600"/>
            <a:ext cx="145951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 · 缺陷框 · 类型</a:t>
            </a:r>
            <a:endParaRPr lang="en-US" sz="11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主导专家 · 追溯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48640" y="3977640"/>
            <a:ext cx="11094415" cy="132588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" y="4114800"/>
            <a:ext cx="365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学习闭环（SSOCL）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77240" y="4617720"/>
            <a:ext cx="180740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 / 机器复判反馈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2584643" y="4617720"/>
            <a:ext cx="2743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2904683" y="4617720"/>
            <a:ext cx="180740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生成候选版本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712086" y="4617720"/>
            <a:ext cx="2743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032126" y="4617720"/>
            <a:ext cx="180740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锚定集考试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839529" y="4617720"/>
            <a:ext cx="2743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⇉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159569" y="4617720"/>
            <a:ext cx="180740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上线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287012" y="4617720"/>
            <a:ext cx="1807403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不通过 → 回滚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灰区（拿不准）的样本交给人看，同时也是主动学习的选样来源。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原理 · 有效性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小样本下“不训练”反而更稳更快：冻结大模型是上线的根基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来源：U11 对照实验（同数据同协议）；答辩文档 §3.1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请一位“看过上亿张图的老师傅”，不重新培训他，只让他看 100 张正常图，记住这条线的“正常样子”。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1089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正常图切块 → DINOv2 提特征 → 存进记忆库（coreset）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新图每一块去记忆库找最近邻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离得越远越可疑（sem 槽位，借鉴 PatchCore）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09360" y="1463040"/>
            <a:ext cx="533369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U11 主干策略对照 · AUROC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09360" y="2011680"/>
            <a:ext cx="2011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DINOv2（本方案）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2480" y="2011680"/>
            <a:ext cx="2316175" cy="38404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0" y="2011680"/>
            <a:ext cx="1995881" cy="38404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38383" y="2011680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0.6032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2697480"/>
            <a:ext cx="2011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412480" y="2697480"/>
            <a:ext cx="2316175" cy="38404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2697480"/>
            <a:ext cx="1625955" cy="38404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38383" y="2697480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0.4914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3383280"/>
            <a:ext cx="201168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从零训练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412480" y="3383280"/>
            <a:ext cx="2316175" cy="38404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12480" y="3383280"/>
            <a:ext cx="1401286" cy="38404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838383" y="3383280"/>
            <a:ext cx="73152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0.4235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09360" y="4206240"/>
            <a:ext cx="533369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4343400"/>
            <a:ext cx="23774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约 14s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8686800" y="4343400"/>
            <a:ext cx="2956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免去约 256s 训练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微调易过拟合，从零训练数据不够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不教老师傅新本事，只让他记住“正常长什么样”——这就是“少样本即可上线”。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原理 · 有效性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五类异常机理不同，会诊比单兵可靠：每位专家各管一类病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§3.2；赛题五类异常定义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6336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专家（槽位）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擅长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一句话原理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一般外观缺陷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和正常块比距离（借鉴 PatchCore）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一般外观缺陷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用合成的“假缺陷”训练一个判别头（借鉴 RealNet）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微小斑点、污染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全分辨率高斯差分找斑点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色偏、纹理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颜色直方图、纹理、频域等手工特征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缺件、尺寸、错序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元件个数 / 尺寸 / 顺序统计比对，不需要模板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局部结构异常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图像内部自相似：“这块和周围不像”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强配准品类（PCB）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和金样板做差，仅在有模板时启用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E_open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没人认识的新缺陷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兜底哨兵：“有异常但说不清是什么”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76072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色偏对语义特征不敏感，错序对纹理特征不敏感——所以按机理分工，而不是一个模型包打天下。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原理 · 有效性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先统一尺子，再投票：分数可比、权重有底、拿不准的交给人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§3.3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630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727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51560" y="1572768"/>
            <a:ext cx="295137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CDF 校准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1938528"/>
            <a:ext cx="345429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统一尺子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377440"/>
            <a:ext cx="34542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问题：各专家量纲不同（0~1 与 0~1000），直接相加无意义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做法：用正常样本分布，换成“比多少比例的正常样本更异常”，截断到 [-1, 2]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注意：这是相对排名尺子，不能当成“缺陷概率”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68698" y="14630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8698" y="15727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71618" y="1572768"/>
            <a:ext cx="295137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共识融合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368698" y="1938528"/>
            <a:ext cx="345429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等权保底 + 一致度加权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68698" y="2377440"/>
            <a:ext cx="3454298" cy="548640"/>
          </a:xfrm>
          <a:prstGeom prst="rect">
            <a:avLst/>
          </a:prstGeom>
          <a:solidFill>
            <a:srgbClr val="E3EAF5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60138" y="2377440"/>
            <a:ext cx="3271418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9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wᵢ = (1−β)/N + β · aᵢ / Σa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368698" y="3108960"/>
            <a:ext cx="345429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= 0.5：一半权重平均分，防止某位专家被误判为“没用”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另一半按各专家在本品类的一致度 / 区分度分配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188757" y="1463040"/>
            <a:ext cx="3454298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8757" y="1572768"/>
            <a:ext cx="5486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91677" y="1572768"/>
            <a:ext cx="295137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双阈值判定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188757" y="1938528"/>
            <a:ext cx="345429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三档输出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188757" y="2423160"/>
            <a:ext cx="1899864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88757" y="2423160"/>
            <a:ext cx="189986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088621" y="2423160"/>
            <a:ext cx="690860" cy="457200"/>
          </a:xfrm>
          <a:prstGeom prst="rect">
            <a:avLst/>
          </a:prstGeom>
          <a:solidFill>
            <a:srgbClr val="B26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88621" y="2423160"/>
            <a:ext cx="6908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灰区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779481" y="2423160"/>
            <a:ext cx="863575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779481" y="2423160"/>
            <a:ext cx="86357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539981" y="292608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τg = Q0.95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459441" y="2148840"/>
            <a:ext cx="10972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τh = Q0.99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188757" y="3246120"/>
            <a:ext cx="345429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τg：判正常，直接放行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高于 τh：判异常，出缺陷框与类型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中间：灰区，交给人复核，也是主动学习的选样来源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阈值取自正常样本分位数（Q0.95 / Q0.99），不需要缺陷样本也能定档。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原理 · 有效性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受控持续学习：错题本 + 月考 + 退学机制；考试不许偷看答案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§3.4–3.5；isolation.py；PCB_Dual 接口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63040"/>
            <a:ext cx="6766560" cy="0"/>
          </a:xfrm>
          <a:prstGeom prst="line">
            <a:avLst/>
          </a:prstGeom>
          <a:noFill/>
          <a:ln w="19050">
            <a:solidFill>
              <a:srgbClr val="1F23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00200"/>
            <a:ext cx="1371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11680" y="16002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反馈分三类：判错 → 进缺陷样例库建立近邻拦截；判对 → 加固正常模式；无反馈 → 满足一致性和置信条件才缓存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676656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587752"/>
            <a:ext cx="1371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11680" y="2587752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每次更新先生成候选版本，在锚定集上回归；AUROC 或缺陷召回下降即拒绝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438144"/>
            <a:ext cx="676656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575304"/>
            <a:ext cx="1371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退学机制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011680" y="357530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已上线版本有快照，随时回滚；所有更新留审计，可查“这个参数见过哪些数据”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425696"/>
            <a:ext cx="6766560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562856"/>
            <a:ext cx="1371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机器复判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011680" y="4562856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PCB_Dual 传统 CV 引擎独立判断；AI 与 CV 不一致时自动生成误检 / 漏检反馈——老 AOI 也能当老师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726680" y="1463040"/>
            <a:ext cx="3916375" cy="3931920"/>
          </a:xfrm>
          <a:prstGeom prst="rect">
            <a:avLst/>
          </a:prstGeom>
          <a:solidFill>
            <a:srgbClr val="F6EBD9"/>
          </a:solidFill>
          <a:ln w="12700">
            <a:solidFill>
              <a:srgbClr val="F6EB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1627632"/>
            <a:ext cx="345917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数据隔离：考试不许偷看答案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955280" y="2103120"/>
            <a:ext cx="201168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0.9983</a:t>
            </a:r>
            <a:endParaRPr lang="en-US" sz="3400" dirty="0"/>
          </a:p>
        </p:txBody>
      </p:sp>
      <p:sp>
        <p:nvSpPr>
          <p:cNvPr id="24" name="Shape 21"/>
          <p:cNvSpPr/>
          <p:nvPr/>
        </p:nvSpPr>
        <p:spPr>
          <a:xfrm>
            <a:off x="7955280" y="2432304"/>
            <a:ext cx="182880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21240" y="2240280"/>
            <a:ext cx="153893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虚高分，已主动废弃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955280" y="2926080"/>
            <a:ext cx="34591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来由：排查发现评估数据混入了拟合流程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代码级断言：测试域数据一旦进入 fit 直接报错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所有结果按“val 选参、test 只验不选”重跑</a:t>
            </a:r>
            <a:endParaRPr lang="en-US" sz="125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隔离测试 2/2 通过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我们主动把自己最漂亮的分数废掉了——这是数字可信的底线。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创新性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零件多有出处，创新在“组合方式”和“做成能在产线闭环的系统”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§4；各项证据见 §5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572000"/>
                <a:gridCol w="2953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创新点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和常见做法的区别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槽位制多专家 + CDF 统一尺子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常见方案单模型单分数；我们可插拔多专家，按缺陷机理分工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五类异常检出率 0.938~1.000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场景分层冷启动（L0 / L1a / L1b / L3）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常见方案只有一种数据假设；我们按“手里有什么数据”自动选档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仅正常图也能应急上线；有模板自动启用 tpl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域差感知软路由 + E_open 哨兵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常见方案对“没见过的缺陷”沉默；我们会报“疑似体系外缺陷”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 不完备预警横幅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SSOCL 受控持续学习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常见在线学习无门控；我们“先考试再上岗，不及格回滚”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bottle 错标压力测试触发 2 次回滚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机器复判当老师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反馈只能靠人；我们让传统 AOI 的分歧自动变成反馈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PCB_Dual 机器复判接口已落地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实时工程闭环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 demo 与软件分离；我们一体化，从建单到追溯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模型段 p50 58ms / mean 102ms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76072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不宣称发明新网络；我们解决的是“拿到产线能用、用错能改、改坏能退”。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实测证据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静态精度与主流方法同档；真实工业数据分低，我们如实登记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来源：五品类 100+30 协议；无泄漏口径 bench；MVTec / MPDD 主报项目文档 sanity 全量口径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48463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少样本冷启动 · 五品类平均 AUROC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719072"/>
            <a:ext cx="48463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bottle / capsule / cable / transistor / screw；横轴从 0.80 起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PatchCore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65960" y="2148840"/>
            <a:ext cx="2514600" cy="3657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65960" y="2148840"/>
            <a:ext cx="1903552" cy="365760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0288" y="2148840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0.9514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640" y="2770632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AOITree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965960" y="2770632"/>
            <a:ext cx="2514600" cy="3657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65960" y="2770632"/>
            <a:ext cx="1811769" cy="365760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2770632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0.9441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3392424"/>
            <a:ext cx="132588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EfficientAD-S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965960" y="3392424"/>
            <a:ext cx="2514600" cy="36576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65960" y="3392424"/>
            <a:ext cx="940460" cy="365760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0288" y="3392424"/>
            <a:ext cx="7315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0.8748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PatchCore、AOITree 无需训练（AOITree fit 约 14s）；EfficientAD-S 需训练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 0.007，但多了反馈学习、类型归因、灰区和回滚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52160" y="1417320"/>
            <a:ext cx="579089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 / 工业数据集 · AUROC（无泄漏口径）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28800"/>
          <a:ext cx="57908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60120"/>
                <a:gridCol w="1143000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速度工作点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MVTec AD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0.9793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0.9811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15/15 品类 ≥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BTAD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0.9609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0.9679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3/3 ≥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MPDD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0.9851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0.9908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6/6 ≥ 0.9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data_local（真实工业）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0.4035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0.3438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强域差，静态基线如实登记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GYU-DET（跨域）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跨域，靠在线学习提升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5852160" y="4709160"/>
            <a:ext cx="57908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注：MVTec / MPDD 全槽位 bench 汇总口径为 0.9701 / 0.9797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静态分数不是我们的主战场；低分场景正好说明“为什么必须有在线学习”。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实测证据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错了能教：反馈后跨域与真实工业数据明显回升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来源：GYU-DET 10 轮在线学习协议；U62；data_local 单轮 / 多轮（大锚定）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学习前 → 学习后 · AUROC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GYU-DET 10 轮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11680" y="1911096"/>
            <a:ext cx="2377440" cy="20116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0" y="1911096"/>
            <a:ext cx="1687982" cy="20116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1911096"/>
            <a:ext cx="1295705" cy="20116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1874520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0.545 → 0.710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01168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条反馈；非单调；disc_ft 应用 18 / 拒绝 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27889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GYU-DET U62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011680" y="2825496"/>
            <a:ext cx="2377440" cy="20116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2825496"/>
            <a:ext cx="1944746" cy="20116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1680" y="2825496"/>
            <a:ext cx="1512052" cy="20116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2788920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0.636 → 0.818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01168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单轮调优，峰值 0.820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37033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gold_finger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011680" y="3739896"/>
            <a:ext cx="2377440" cy="20116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11680" y="3739896"/>
            <a:ext cx="1711757" cy="20116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011680" y="3739896"/>
            <a:ext cx="290048" cy="20116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80560" y="3703320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0.122 → ≈0.72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201168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 0.608 / 多轮约 0.72（大锚定）；小锚定 0.91 已废弃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48640" y="46177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solder_smt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011680" y="4654296"/>
            <a:ext cx="2377440" cy="201168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011680" y="4654296"/>
            <a:ext cx="1262421" cy="201168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011680" y="4654296"/>
            <a:ext cx="558698" cy="201168"/>
          </a:xfrm>
          <a:prstGeom prst="rect">
            <a:avLst/>
          </a:prstGeom>
          <a:solidFill>
            <a:srgbClr val="9AA0A8"/>
          </a:solidFill>
          <a:ln w="12700">
            <a:solidFill>
              <a:srgbClr val="9AA0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80560" y="4617720"/>
            <a:ext cx="1188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0.235 → 0.531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2011680" y="4937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data_local 真实工业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2011680" y="5532120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学习前   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017520" y="5532120"/>
            <a:ext cx="10972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学习后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35040" y="1417320"/>
            <a:ext cx="560801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学习曲线（项目文档图）</a:t>
            </a:r>
            <a:endParaRPr lang="en-US" sz="1300" dirty="0"/>
          </a:p>
        </p:txBody>
      </p:sp>
      <p:pic>
        <p:nvPicPr>
          <p:cNvPr id="37" name="Image 0" descr="E:\CPIPC\CGAIC\commit\答辩素材\截图\fig2_学习曲线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177097"/>
            <a:ext cx="5608015" cy="2229486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6035040" y="2177097"/>
            <a:ext cx="5608015" cy="222948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035040" y="4892040"/>
            <a:ext cx="5608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曲线有波动：门控会拒绝不达标的更新，不承诺“每一轮都更好”。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实测证据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教坏了能退：故意给错标，门控自动回滚 2 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来源：bottle 双臂学习协议（结论 PASS）；数据隔离测试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63040"/>
            <a:ext cx="5318608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691640"/>
            <a:ext cx="531860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正确反馈臂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5318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给正确标注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256032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→ 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017520" y="2834640"/>
            <a:ext cx="284972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流内错误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3566160"/>
            <a:ext cx="531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 AUROC 保持 1.0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 1 次因 AUC 不达标被拒（门控同样在把关）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24448" y="1463040"/>
            <a:ext cx="5318608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4448" y="1691640"/>
            <a:ext cx="531860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错标压力臂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324448" y="2103120"/>
            <a:ext cx="531860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故意给错误标注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24448" y="2560320"/>
            <a:ext cx="237744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次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8793328" y="2834640"/>
            <a:ext cx="284972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24448" y="3566160"/>
            <a:ext cx="531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回滚原因：缺陷召回下降</a:t>
            </a:r>
            <a:endParaRPr lang="en-US" sz="13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版本快照可回退，更新全程留审计记录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4415" cy="685800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6177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单品类、单随机种子、锚定集仅 4 张——证明机制有效，不证明统计意义上的普遍性。另：数据隔离测试 2/2 通过。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在线学习敢开，是因为每一次更新都要先考试，不及格就退回。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实测证据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模型段均值 102ms、p95 183ms，满足 &lt;200ms；端到端远低于 1s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来源：GTX 1660S 速度模式 2500² 基准；RTX 2070 本轮经 API 复测；10min×4 并发长稳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模型段延迟 · GTX 1660S · 速度模式 2500²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6400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2240280"/>
            <a:ext cx="3657600" cy="32918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0160" y="2240280"/>
            <a:ext cx="707136" cy="32918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2240280"/>
            <a:ext cx="9144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2807208"/>
            <a:ext cx="6400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80160" y="2807208"/>
            <a:ext cx="3657600" cy="32918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2807208"/>
            <a:ext cx="1238707" cy="32918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7488" y="2807208"/>
            <a:ext cx="9144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101.6 ms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3374136"/>
            <a:ext cx="6400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80160" y="3374136"/>
            <a:ext cx="3657600" cy="32918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80160" y="3374136"/>
            <a:ext cx="2233574" cy="32918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7488" y="3374136"/>
            <a:ext cx="9144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183.2 ms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3941064"/>
            <a:ext cx="64008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280160" y="3941064"/>
            <a:ext cx="3657600" cy="32918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280160" y="3941064"/>
            <a:ext cx="3207715" cy="329184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47488" y="3941064"/>
            <a:ext cx="9144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263.1 ms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718560" y="2130552"/>
            <a:ext cx="0" cy="2267712"/>
          </a:xfrm>
          <a:prstGeom prst="line">
            <a:avLst/>
          </a:prstGeom>
          <a:noFill/>
          <a:ln w="12700">
            <a:solidFill>
              <a:srgbClr val="C62828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2987040" y="1892808"/>
            <a:ext cx="14630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 200ms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4572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B2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 超线出现在少量大图；突发 4 并发客户端 max 1740ms → 演示与产线按串行 / 限流部署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50815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960120"/>
                <a:gridCol w="240761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端到端（2500²）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GTX 1660S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mean 162.5 / p95 241.3 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大图零拷贝 4096×3000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GTX 1660S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 mean 131 / p95 172 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降配（无 GPU）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模型段 256.5 / e2e 351.3 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本轮复测（经 API）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RTX 2070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 121~147 / e2e 155~251ms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10min × 4 并发 4539 次 0 错误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6492240" y="4800600"/>
            <a:ext cx="5150815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首图冷启动约 7s，演示前需预热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8640" y="566928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3232" y="566928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单图 1s 红线留足余量；1660S 级显卡即可实时，无 GPU 也能降配运行。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实测证据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赛题五类异常全覆盖：检出 ≥ 0.938，类型归因仍有提升空间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来源：五类异常覆盖评测；逻辑错误样本仅 16 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1828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缺陷类型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18288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检出率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146304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类型归因 top-1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1783080"/>
            <a:ext cx="11094415" cy="0"/>
          </a:xfrm>
          <a:prstGeom prst="line">
            <a:avLst/>
          </a:prstGeom>
          <a:noFill/>
          <a:ln w="12700">
            <a:solidFill>
              <a:srgbClr val="1F23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01168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常见外观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560320" y="20574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2057400"/>
            <a:ext cx="3153583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0116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0.958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23760" y="20574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2057400"/>
            <a:ext cx="2751978" cy="23774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25328" y="20116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0.836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2542032"/>
            <a:ext cx="11094415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269748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尺寸偏差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2560320" y="27432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743200"/>
            <a:ext cx="3291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26974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223760" y="27432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23760" y="2743200"/>
            <a:ext cx="2590678" cy="23774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25328" y="26974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0.787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3227832"/>
            <a:ext cx="11094415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338328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缺件少件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560320" y="34290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3429000"/>
            <a:ext cx="3291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61888" y="33832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223760" y="34290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23760" y="3429000"/>
            <a:ext cx="2821107" cy="23774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25328" y="33832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0.857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48640" y="3913632"/>
            <a:ext cx="11094415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406908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色彩变化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2560320" y="41148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4114800"/>
            <a:ext cx="3291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61888" y="40690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223760" y="41148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23760" y="4114800"/>
            <a:ext cx="2468880" cy="237744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625328" y="40690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0.750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548640" y="4599432"/>
            <a:ext cx="11094415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4754880"/>
            <a:ext cx="182880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逻辑错误*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2560320" y="48006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560320" y="4800600"/>
            <a:ext cx="3087746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61888" y="47548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0.938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7223760" y="4800600"/>
            <a:ext cx="3291840" cy="237744"/>
          </a:xfrm>
          <a:prstGeom prst="rect">
            <a:avLst/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223760" y="4800600"/>
            <a:ext cx="1850014" cy="237744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625328" y="4754880"/>
            <a:ext cx="82296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0.562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548640" y="5285232"/>
            <a:ext cx="11094415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" y="5440680"/>
            <a:ext cx="731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逻辑错误样本仅 16 张，统计不稳，已列为局限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48640" y="576072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3232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“有没有缺陷”已经可靠；“是哪一类缺陷”随样本积累继续提升。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系统演示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演示路径①：从开机到模型上线，四步走完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来源：实际运行截图（bottle 品类）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  <p:pic>
        <p:nvPicPr>
          <p:cNvPr id="9" name="Image 0" descr="E:\CPIPC\CGAIC\commit\答辩素材\截图\02_工作台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83" y="1371600"/>
            <a:ext cx="3465433" cy="2240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3283" y="137160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06240" y="137160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06240" y="178308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06240" y="219456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开机首屏：工单、品类状态机、下一步引导</a:t>
            </a:r>
            <a:endParaRPr lang="en-US" sz="1150" dirty="0"/>
          </a:p>
        </p:txBody>
      </p:sp>
      <p:pic>
        <p:nvPicPr>
          <p:cNvPr id="14" name="Image 1" descr="E:\CPIPC\CGAIC\commit\答辩素材\截图\01_数据管理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71" y="1371600"/>
            <a:ext cx="3465433" cy="22402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83371" y="137160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936328" y="137160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936328" y="178308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936328" y="219456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 MVTec / YOLO / 命名规则，确认后入库</a:t>
            </a:r>
            <a:endParaRPr lang="en-US" sz="1150" dirty="0"/>
          </a:p>
        </p:txBody>
      </p:sp>
      <p:pic>
        <p:nvPicPr>
          <p:cNvPr id="19" name="Image 2" descr="E:\CPIPC\CGAIC\commit\答辩素材\截图\04_模型管理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83" y="3840480"/>
            <a:ext cx="3465433" cy="22402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53283" y="384048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206240" y="384048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206240" y="425196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模型管理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206240" y="466344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100+30 一键准备，约 14s 完成，附体检结论</a:t>
            </a:r>
            <a:endParaRPr lang="en-US" sz="1150" dirty="0"/>
          </a:p>
        </p:txBody>
      </p:sp>
      <p:pic>
        <p:nvPicPr>
          <p:cNvPr id="24" name="Image 3" descr="E:\CPIPC\CGAIC\commit\答辩素材\截图\05_评估看板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371" y="3840480"/>
            <a:ext cx="3465433" cy="22402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283371" y="384048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936328" y="384048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9936328" y="425196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评估看板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36328" y="466344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上线前查看指标与双阈值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系统演示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演示路径②：检测 → 反馈 → 学习 → 追溯，闭环跑通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来源：实际运行截图；演示前先预热首图（约 7s），检测按串行执行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  <p:pic>
        <p:nvPicPr>
          <p:cNvPr id="9" name="Image 0" descr="E:\CPIPC\CGAIC\commit\答辩素材\截图\06_实时监控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83" y="1371600"/>
            <a:ext cx="3465433" cy="2240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3283" y="137160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06240" y="137160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06240" y="178308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206240" y="219456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逐图判定、热力图、缺陷框、延迟、主导专家</a:t>
            </a:r>
            <a:endParaRPr lang="en-US" sz="1150" dirty="0"/>
          </a:p>
        </p:txBody>
      </p:sp>
      <p:pic>
        <p:nvPicPr>
          <p:cNvPr id="14" name="Image 1" descr="E:\CPIPC\CGAIC\commit\答辩素材\截图\07_标注反馈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71" y="1371600"/>
            <a:ext cx="3465433" cy="22402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83371" y="137160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936328" y="137160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936328" y="178308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标注反馈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936328" y="219456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操作员点选误检 / 漏检，无需懂算法</a:t>
            </a:r>
            <a:endParaRPr lang="en-US" sz="1150" dirty="0"/>
          </a:p>
        </p:txBody>
      </p:sp>
      <p:pic>
        <p:nvPicPr>
          <p:cNvPr id="19" name="Image 2" descr="E:\CPIPC\CGAIC\commit\答辩素材\截图\12_学习提升后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92651"/>
            <a:ext cx="3474720" cy="213593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3892651"/>
            <a:ext cx="3474720" cy="213593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206240" y="384048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4206240" y="425196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学习提升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206240" y="466344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生成新版本 → 锚定集考试 → 可回滚</a:t>
            </a:r>
            <a:endParaRPr lang="en-US" sz="1150" dirty="0"/>
          </a:p>
        </p:txBody>
      </p:sp>
      <p:pic>
        <p:nvPicPr>
          <p:cNvPr id="24" name="Image 3" descr="E:\CPIPC\CGAIC\commit\答辩素材\截图\09_统计报表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371" y="3840480"/>
            <a:ext cx="3465433" cy="22402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283371" y="3840480"/>
            <a:ext cx="3465433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9DCE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936328" y="3840480"/>
            <a:ext cx="54864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9936328" y="4251960"/>
            <a:ext cx="170672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统计报表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936328" y="4663440"/>
            <a:ext cx="1706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日报、审计记录、CSV 导出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局限与边界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主动说清边界：哪些已验证，哪些还没做到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764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6A7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真实工业强域差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data_local 静态 AUROC 仅 0.40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在线学习后 0.53~0.72；有金样板时启用 tpl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模板依赖覆盖度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闭集模板 1.0；仅隔离正常图作模板 0.27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模板只作可选增强，不混报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光照 / 位移扰动敏感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gold_finger 扰动下漏检率最高 0.93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TTA 可降误报但超 1s，仅用于复检；产线需光照 / 对位约束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类型归因偏弱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逻辑错误 top-1 仅 0.562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样本少（16 张），持续积累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定位精度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patch 级（14~28px）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满足框选，不做像素级分割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在线学习非单调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MPDD bracket_brown 登记 −0.34 负增益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门控降风险但非硬保证；锚定集补缺陷样本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长时稳定性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10min 压测通过，24h 未实跑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工具已就绪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部署形态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RTSP、MES 真实协议、RTX 2060 未实测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接口与模拟网关已完成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760720"/>
            <a:ext cx="54864" cy="38404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13232" y="5760720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所有数字都带口径；虚高结果（如 0.9983、小锚定 0.91）已主动废弃。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评委问答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14255" y="347472"/>
            <a:ext cx="18288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预判评委八问：每个回答都有数据支撑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61288"/>
            <a:ext cx="11094415" cy="0"/>
          </a:xfrm>
          <a:prstGeom prst="line">
            <a:avLst/>
          </a:prstGeom>
          <a:noFill/>
          <a:ln w="9525">
            <a:solidFill>
              <a:srgbClr val="D9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9601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来源：答辩文档 §8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00800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37160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PatchCore 有什么区别？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73736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静态精度同档（0.9441 vs 0.9514）；多了三件产线能力：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多专家归因、反馈即学、门控回滚。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56032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6032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data_local 为何只有 0.40？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292608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真实工业强域差，如实登记；gold_finger 在线学习 0.12 → 约 0.72，小锚定 0.91 已废弃。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5760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74904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374904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在线学习会学坏吗？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1148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有风险，所以有门控：错标实验自动回滚 2 次；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负增益案例已如实登记。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84632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493776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" y="493776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有没有偷用目标数据？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30352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没有。目标品类只用 100+30；测试集进入 fit 会被代码断言拦截。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24448" y="137160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27368" y="137160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速度怎么算？max 超 200ms？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27368" y="173736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模型段 mean 102 / p95 183ms 达标；max 263ms 为少量大图；端到端 162ms ≪ 1s。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324448" y="246888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24448" y="256032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27368" y="256032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操作员要懂算法吗？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27368" y="292608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不需要。三个按钮：误检 / 漏检 / 确认正确；灰区样本自动推送复核。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324448" y="365760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4448" y="374904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27368" y="374904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没见过的新缺陷怎么办？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27368" y="411480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E_open 哨兵兜底，报“疑似体系外缺陷”；样本积累后孵化新专家。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24448" y="4846320"/>
            <a:ext cx="5318608" cy="0"/>
          </a:xfrm>
          <a:prstGeom prst="line">
            <a:avLst/>
          </a:prstGeom>
          <a:noFill/>
          <a:ln w="6350">
            <a:solidFill>
              <a:srgbClr val="D9DC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24448" y="4937760"/>
            <a:ext cx="45720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827368" y="4937760"/>
            <a:ext cx="481568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落地成本？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827368" y="5303520"/>
            <a:ext cx="4815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主干冻结，可训练参数 &lt;0.5M；1660S 即可实时，无 GPU 降配 e2e 351ms。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9A"/>
          </a:solidFill>
          <a:ln w="12700">
            <a:solidFill>
              <a:srgbClr val="1F4E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365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6400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69164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少样本即可上线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0" y="1691640"/>
            <a:ext cx="6400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冻结大模型 + 多专家，100+30 张、约 14s 准备，公开集 AUROC 0.96~0.98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6400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265176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错了能教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20640" y="2651760"/>
            <a:ext cx="6400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操作员一次点击即反馈，跨域 GYU-DET 0.545 → 0.710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6400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3611880"/>
            <a:ext cx="3657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教坏能退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3611880"/>
            <a:ext cx="6400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6A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锚定集门控 + 版本快照，错标压力下自动回滚 2 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5029200" cy="0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29200"/>
            <a:ext cx="914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谢谢各位评委，欢迎提问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603504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AOITree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AOITree 答辩</dc:title>
  <dc:subject>PptxGenJS Presentation</dc:subject>
  <dc:creator>PptxGenJS</dc:creator>
  <cp:lastModifiedBy>PptxGenJS</cp:lastModifiedBy>
  <cp:revision>1</cp:revision>
  <dcterms:created xsi:type="dcterms:W3CDTF">2026-10-07T12:37:30Z</dcterms:created>
  <dcterms:modified xsi:type="dcterms:W3CDTF">2026-10-07T12:37:30Z</dcterms:modified>
</cp:coreProperties>
</file>